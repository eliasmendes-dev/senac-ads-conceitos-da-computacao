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320CF-C929-1264-9A89-6347617AF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66C72D-C30C-0CB7-F3DA-1499BF6C3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A18D5E-7312-12BC-FF86-16ABD80F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BF4C8F-200B-27CE-1872-5866CB62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F29689-B822-C151-7675-2FAA67A0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668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A30D5-2136-5F71-9D52-592738EA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46DF6D-F115-DE7C-F1F9-C3D0228E6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243A40-5D4F-D432-813E-D27AB897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05A10A-D04D-FD58-CACD-518A70A2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27B7BA-00F2-7FE8-F47C-1B5CDF95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67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76A1C-4CAC-9EED-4B57-150566B1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77B192-1478-8EA0-0C00-8FD7A9A94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488473-D080-8FE9-951D-2296BF4A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B3A24-B07D-F2C4-D093-B0D0B9CE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9898DA-783D-E127-7352-34D9F8D0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24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D36D9-0032-082B-1BD5-47AD4297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E96B0-F136-AEEE-C73C-2670A0B24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44459F-3077-5F33-2317-4473835F8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3F0A5D-776B-40C0-650D-338EC41E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D77EC3-4900-334B-FD56-FCFD6D83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3D3334-696B-BC04-0307-958ABC18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03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9645A-0243-85B7-1D53-6F9B4380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4DFE83-2504-BE6D-CE97-E06CB3E7C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4965CE-2804-EFEE-E4CE-E7C09B0E2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B0F11B-A6FC-9A52-5239-5B6B763279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D7097B-47CB-3B7B-4131-C26D116EB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288ED47-B25A-E5A7-82AA-2C68599A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4FAC63-13C8-FA2D-64F6-77B5977A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BC7B552-97A9-47F0-EFC8-ADF8A3A8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77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93C52-77DC-1032-674D-0850ECEB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0E91B0-A540-0CA6-8F8B-CEC70F3A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6C152D-212F-8E8C-17D6-7A77A514D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83AD74A-318B-DB8D-8486-3429D840C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06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C3BF30-6426-1243-CF54-7EDE51AC3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2C2EC9-F37E-C75B-D0F9-D8C8E2C2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CA1B32-58E5-2540-3874-B465FDC8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3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7E52B-5979-B561-3338-3058D2A4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50013C-49E9-6BD9-9B55-20ED3DF9D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CAD05A-6FEA-2F65-A017-6D2AC82BD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93F661-B518-265B-79AF-AB5FE522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EABC85-3846-F204-683D-DDF6B03F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85EA-83FA-8BB9-E963-1C488BCB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7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45A9B-9F16-2CD5-C1A2-3803AB8D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BDE17D-3F6B-0CF6-D6D5-B1429151A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9B8C38-33D9-629C-9488-4D8A2EF7F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37DD71-1FD8-DDBF-BD0C-59B42BB4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749FB6-9918-3EF0-4E99-2F57EB35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FCE62C-ECD7-DD41-D199-F9B0BB07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03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4A301-4921-ED27-AA3B-9A6A41D8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CB9CCE-F5DF-F606-0948-00A29D122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71683-0C47-E354-BF62-B76ED5AC9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447966-FFA8-D483-9069-19DA2CA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1229F0-964D-E020-77CB-5F0F5F0C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765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52B127-632B-CDBA-4DCE-866DDFC51C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EF42C7-4734-9CB1-4CDE-4762F060A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91E3B6-5E44-F6BE-F0DF-CF49C3A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5C01F2-033C-7BE4-3BD8-4D09AFBC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E6014C-5DE8-397E-22A2-955B46F8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9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81FCF64-9E12-4837-0111-9FB5D0E3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36636B-B8B5-F6D6-4EFB-4C61A4481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45E05A-F136-6897-2A19-AD82EDB63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935EF-41EB-4AD8-9D95-EF10BCE384C0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024BD2-9D22-9C51-A3E2-24916A749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5DFE0-D70B-2E20-8ED3-D28BF7369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A1F2A-A0C6-4AD6-968D-8F1E7FC31E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69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2C18B-DAE8-2FD0-4E22-DA7432F0E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Operações com Sistemas Numéricos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97525B-2925-7BE2-1387-214204A6A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Prof. Rodrigo Amorim</a:t>
            </a:r>
          </a:p>
        </p:txBody>
      </p:sp>
    </p:spTree>
    <p:extLst>
      <p:ext uri="{BB962C8B-B14F-4D97-AF65-F5344CB8AC3E}">
        <p14:creationId xmlns:p14="http://schemas.microsoft.com/office/powerpoint/2010/main" val="3550469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81BBF-B3C0-7B97-A5BD-AF106A98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21" y="155973"/>
            <a:ext cx="10515600" cy="959803"/>
          </a:xfrm>
        </p:spPr>
        <p:txBody>
          <a:bodyPr/>
          <a:lstStyle/>
          <a:p>
            <a:r>
              <a:rPr lang="pt-BR" b="1" dirty="0"/>
              <a:t>Binário - Adição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87796-DBC9-ACD3-2DA4-03FBB70AD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421" y="1100882"/>
            <a:ext cx="3305538" cy="25545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0 + 0 = 0</a:t>
            </a:r>
          </a:p>
          <a:p>
            <a:pPr marL="0" indent="0">
              <a:buNone/>
            </a:pPr>
            <a:r>
              <a:rPr lang="pt-BR" sz="3600" dirty="0"/>
              <a:t>0 + 1 = 1</a:t>
            </a:r>
          </a:p>
          <a:p>
            <a:pPr marL="0" indent="0">
              <a:buNone/>
            </a:pPr>
            <a:r>
              <a:rPr lang="pt-BR" sz="3600" dirty="0"/>
              <a:t>1 + 0 = 1</a:t>
            </a:r>
          </a:p>
          <a:p>
            <a:pPr marL="0" indent="0">
              <a:buNone/>
            </a:pPr>
            <a:r>
              <a:rPr lang="pt-BR" sz="3600" dirty="0"/>
              <a:t>1 + 1 = 0 e vai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776A732-DCD3-CBB4-3FED-7B2CC5F91F70}"/>
              </a:ext>
            </a:extLst>
          </p:cNvPr>
          <p:cNvSpPr txBox="1"/>
          <p:nvPr/>
        </p:nvSpPr>
        <p:spPr>
          <a:xfrm>
            <a:off x="5692298" y="1240915"/>
            <a:ext cx="2268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Exemplo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6574A27-B069-BCDA-8F22-A2FCDF28CFEB}"/>
              </a:ext>
            </a:extLst>
          </p:cNvPr>
          <p:cNvSpPr txBox="1"/>
          <p:nvPr/>
        </p:nvSpPr>
        <p:spPr>
          <a:xfrm>
            <a:off x="673616" y="3793107"/>
            <a:ext cx="4304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Exercícios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DCDE0ED-F5DB-0C0A-556C-5945A6AB3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054073"/>
              </p:ext>
            </p:extLst>
          </p:nvPr>
        </p:nvGraphicFramePr>
        <p:xfrm>
          <a:off x="5506719" y="1960627"/>
          <a:ext cx="3504300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4050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495665313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EE0636E4-13A9-1E72-EBD8-7C116CF01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165894"/>
              </p:ext>
            </p:extLst>
          </p:nvPr>
        </p:nvGraphicFramePr>
        <p:xfrm>
          <a:off x="6756400" y="4514596"/>
          <a:ext cx="5181606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5734">
                  <a:extLst>
                    <a:ext uri="{9D8B030D-6E8A-4147-A177-3AD203B41FA5}">
                      <a16:colId xmlns:a16="http://schemas.microsoft.com/office/drawing/2014/main" val="362520549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987145656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1371903018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575734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DC44BE5-0BBE-E0FA-0A74-7069DF402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65232"/>
              </p:ext>
            </p:extLst>
          </p:nvPr>
        </p:nvGraphicFramePr>
        <p:xfrm>
          <a:off x="3505197" y="4514596"/>
          <a:ext cx="2920250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4050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4D1DA11-120A-901C-B452-88A13DFF0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414878"/>
              </p:ext>
            </p:extLst>
          </p:nvPr>
        </p:nvGraphicFramePr>
        <p:xfrm>
          <a:off x="253994" y="4519656"/>
          <a:ext cx="2920250" cy="15646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4050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7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BCA82-86FD-DE62-29DD-BA82C9AE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286003"/>
            <a:ext cx="10515600" cy="801829"/>
          </a:xfrm>
        </p:spPr>
        <p:txBody>
          <a:bodyPr/>
          <a:lstStyle/>
          <a:p>
            <a:r>
              <a:rPr lang="pt-BR" b="1" dirty="0"/>
              <a:t>Binário - Subtração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4C7FAF-51F9-2760-73AB-682B2FEEE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" y="1108928"/>
            <a:ext cx="10515600" cy="80182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Quando for impossível subtrair, empresta-se 1(um) do vizinho.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0A7C2F-6012-0969-846F-AC21E15931FF}"/>
              </a:ext>
            </a:extLst>
          </p:cNvPr>
          <p:cNvSpPr txBox="1"/>
          <p:nvPr/>
        </p:nvSpPr>
        <p:spPr>
          <a:xfrm>
            <a:off x="3359616" y="2341526"/>
            <a:ext cx="8176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15</a:t>
            </a:r>
          </a:p>
          <a:p>
            <a:r>
              <a:rPr lang="pt-BR" sz="2800" dirty="0"/>
              <a:t>- 9</a:t>
            </a:r>
          </a:p>
          <a:p>
            <a:r>
              <a:rPr lang="pt-BR" sz="2800" dirty="0"/>
              <a:t>   </a:t>
            </a:r>
            <a:r>
              <a:rPr lang="pt-BR" sz="2800" dirty="0">
                <a:solidFill>
                  <a:srgbClr val="FF0000"/>
                </a:solidFill>
              </a:rPr>
              <a:t>6</a:t>
            </a:r>
            <a:r>
              <a:rPr lang="pt-BR" sz="2800" dirty="0"/>
              <a:t>	</a:t>
            </a:r>
          </a:p>
          <a:p>
            <a:endParaRPr lang="pt-BR" sz="2800" dirty="0"/>
          </a:p>
          <a:p>
            <a:r>
              <a:rPr lang="pt-BR" sz="2800" dirty="0"/>
              <a:t> 30</a:t>
            </a:r>
          </a:p>
          <a:p>
            <a:r>
              <a:rPr lang="pt-BR" sz="2800" dirty="0"/>
              <a:t>-27</a:t>
            </a:r>
          </a:p>
          <a:p>
            <a:r>
              <a:rPr lang="pt-BR" sz="2800" dirty="0">
                <a:solidFill>
                  <a:srgbClr val="FF0000"/>
                </a:solidFill>
              </a:rPr>
              <a:t>  03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2112E4-B6F8-0408-AFCF-5A2B905E5FEE}"/>
              </a:ext>
            </a:extLst>
          </p:cNvPr>
          <p:cNvSpPr txBox="1"/>
          <p:nvPr/>
        </p:nvSpPr>
        <p:spPr>
          <a:xfrm>
            <a:off x="7109096" y="1897370"/>
            <a:ext cx="25429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Exercícios</a:t>
            </a:r>
          </a:p>
          <a:p>
            <a:endParaRPr lang="pt-BR" sz="2800" dirty="0"/>
          </a:p>
          <a:p>
            <a:r>
              <a:rPr lang="pt-BR" sz="2800" dirty="0"/>
              <a:t>		 53</a:t>
            </a:r>
          </a:p>
          <a:p>
            <a:r>
              <a:rPr lang="pt-BR" sz="2800" dirty="0"/>
              <a:t>		-27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498AA46-B551-D465-3632-435AAF72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62356"/>
              </p:ext>
            </p:extLst>
          </p:nvPr>
        </p:nvGraphicFramePr>
        <p:xfrm>
          <a:off x="283280" y="2247737"/>
          <a:ext cx="2920250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4050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584050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020A31B3-94FE-E5FA-D3D9-968FE77C8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671024"/>
              </p:ext>
            </p:extLst>
          </p:nvPr>
        </p:nvGraphicFramePr>
        <p:xfrm>
          <a:off x="283280" y="4416817"/>
          <a:ext cx="2920248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6708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24B86C90-52F7-C877-5FDB-56809F27594C}"/>
              </a:ext>
            </a:extLst>
          </p:cNvPr>
          <p:cNvSpPr txBox="1"/>
          <p:nvPr/>
        </p:nvSpPr>
        <p:spPr>
          <a:xfrm>
            <a:off x="355600" y="1635760"/>
            <a:ext cx="2753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Exemplos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3EF345C1-B456-FD8B-9D62-A0C4B6026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251279"/>
              </p:ext>
            </p:extLst>
          </p:nvPr>
        </p:nvGraphicFramePr>
        <p:xfrm>
          <a:off x="5669280" y="2644170"/>
          <a:ext cx="3274649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67807">
                  <a:extLst>
                    <a:ext uri="{9D8B030D-6E8A-4147-A177-3AD203B41FA5}">
                      <a16:colId xmlns:a16="http://schemas.microsoft.com/office/drawing/2014/main" val="1543381975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67807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19EBBD15-1C0A-CDD9-F2A3-841743CA6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120236"/>
              </p:ext>
            </p:extLst>
          </p:nvPr>
        </p:nvGraphicFramePr>
        <p:xfrm>
          <a:off x="5669280" y="4849773"/>
          <a:ext cx="5181605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3194903967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362520549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98714565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371903018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33AE01-C7E4-4F61-96DB-04D704ACFC4B}"/>
              </a:ext>
            </a:extLst>
          </p:cNvPr>
          <p:cNvSpPr txBox="1"/>
          <p:nvPr/>
        </p:nvSpPr>
        <p:spPr>
          <a:xfrm>
            <a:off x="10850885" y="4967650"/>
            <a:ext cx="925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 712</a:t>
            </a:r>
          </a:p>
          <a:p>
            <a:r>
              <a:rPr lang="pt-BR" sz="2800" dirty="0"/>
              <a:t>-239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1ED81B-1128-C0AA-D17A-E412ABFB3717}"/>
              </a:ext>
            </a:extLst>
          </p:cNvPr>
          <p:cNvSpPr txBox="1"/>
          <p:nvPr/>
        </p:nvSpPr>
        <p:spPr>
          <a:xfrm>
            <a:off x="9009245" y="3690815"/>
            <a:ext cx="5965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5124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611D2-2C8D-ECC2-5B51-4F8F544C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/>
          <a:lstStyle/>
          <a:p>
            <a:r>
              <a:rPr lang="pt-BR" dirty="0"/>
              <a:t>Hexadecimal - Adição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39E596-D2CB-59F0-357C-CDC5F0401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785"/>
            <a:ext cx="10515600" cy="906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200" dirty="0"/>
              <a:t>Quando a soma dos valores ultrapassar a 15 (F), subtrai-se a base 16 (ou divide-se a base 16) e vai 1 (um).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D9D306-B626-1A60-E3A2-43FACBDA3F2B}"/>
              </a:ext>
            </a:extLst>
          </p:cNvPr>
          <p:cNvSpPr txBox="1"/>
          <p:nvPr/>
        </p:nvSpPr>
        <p:spPr>
          <a:xfrm>
            <a:off x="598154" y="2867050"/>
            <a:ext cx="3437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Exemplos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FB68A3-BF94-74D7-0074-B5D3EE3CA076}"/>
              </a:ext>
            </a:extLst>
          </p:cNvPr>
          <p:cNvSpPr txBox="1"/>
          <p:nvPr/>
        </p:nvSpPr>
        <p:spPr>
          <a:xfrm>
            <a:off x="4198513" y="3095324"/>
            <a:ext cx="7248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Exercícios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E268473-4033-7D2D-19D6-A6966C8FE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14019"/>
              </p:ext>
            </p:extLst>
          </p:nvPr>
        </p:nvGraphicFramePr>
        <p:xfrm>
          <a:off x="4035835" y="4385965"/>
          <a:ext cx="2920248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6708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98AF0AF-018D-BEBE-941F-6F8BCD7CB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852227"/>
              </p:ext>
            </p:extLst>
          </p:nvPr>
        </p:nvGraphicFramePr>
        <p:xfrm>
          <a:off x="8197456" y="4385965"/>
          <a:ext cx="2920248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6708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376240734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2280172258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4088559837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8B5C36DF-450C-ECCC-7AC0-28EDC12E2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189722"/>
              </p:ext>
            </p:extLst>
          </p:nvPr>
        </p:nvGraphicFramePr>
        <p:xfrm>
          <a:off x="354272" y="3607442"/>
          <a:ext cx="1460124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6708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8E44FA4-E5C8-1DAA-1A76-7330BD09B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02180"/>
              </p:ext>
            </p:extLst>
          </p:nvPr>
        </p:nvGraphicFramePr>
        <p:xfrm>
          <a:off x="2026504" y="3601135"/>
          <a:ext cx="1460124" cy="15696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6708">
                  <a:extLst>
                    <a:ext uri="{9D8B030D-6E8A-4147-A177-3AD203B41FA5}">
                      <a16:colId xmlns:a16="http://schemas.microsoft.com/office/drawing/2014/main" val="321449193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798083792"/>
                    </a:ext>
                  </a:extLst>
                </a:gridCol>
                <a:gridCol w="486708">
                  <a:extLst>
                    <a:ext uri="{9D8B030D-6E8A-4147-A177-3AD203B41FA5}">
                      <a16:colId xmlns:a16="http://schemas.microsoft.com/office/drawing/2014/main" val="1329370052"/>
                    </a:ext>
                  </a:extLst>
                </a:gridCol>
              </a:tblGrid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94234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79760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665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73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6057F-01D9-006F-CE9D-B0355D57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br>
              <a:rPr lang="pt-BR" dirty="0"/>
            </a:br>
            <a:r>
              <a:rPr lang="pt-BR" dirty="0"/>
              <a:t>Adição - HEX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E3CFE552-54EF-C874-C29A-0BA0B48A7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164677"/>
              </p:ext>
            </p:extLst>
          </p:nvPr>
        </p:nvGraphicFramePr>
        <p:xfrm>
          <a:off x="6990080" y="2035453"/>
          <a:ext cx="3768440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98714565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371903018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6448FE23-9E7F-9737-BAFA-DD46C0A9B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265984"/>
              </p:ext>
            </p:extLst>
          </p:nvPr>
        </p:nvGraphicFramePr>
        <p:xfrm>
          <a:off x="6990080" y="4158893"/>
          <a:ext cx="4239495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98714565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371903018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058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396B8-39CE-62F3-C73D-3F488956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Hexadecimal - Subtração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33F13-BB77-E900-6757-F0DF54640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68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200" dirty="0"/>
              <a:t>Quando for impossível subtrair os valores, pede-se 1 (um) emprestado do vizinho.</a:t>
            </a:r>
          </a:p>
          <a:p>
            <a:pPr marL="0" indent="0">
              <a:buNone/>
            </a:pPr>
            <a:endParaRPr lang="pt-BR" sz="3200" dirty="0"/>
          </a:p>
          <a:p>
            <a:pPr marL="0" indent="0">
              <a:buNone/>
            </a:pPr>
            <a:r>
              <a:rPr lang="pt-BR" sz="3200" dirty="0"/>
              <a:t>Exemplo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4D26B0B-38D7-C6A1-1EE5-B7F92109D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44473"/>
              </p:ext>
            </p:extLst>
          </p:nvPr>
        </p:nvGraphicFramePr>
        <p:xfrm>
          <a:off x="838200" y="4280813"/>
          <a:ext cx="2826330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D129A29-664F-4B62-599C-8C8DF0D42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083704"/>
              </p:ext>
            </p:extLst>
          </p:nvPr>
        </p:nvGraphicFramePr>
        <p:xfrm>
          <a:off x="5230087" y="4280813"/>
          <a:ext cx="3297385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54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356FA-37A6-C0EA-CF18-F077D5DC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br>
              <a:rPr lang="pt-BR" dirty="0"/>
            </a:br>
            <a:r>
              <a:rPr lang="pt-BR" dirty="0"/>
              <a:t>HEX - Subtração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97AAE50-AC28-11ED-EA4F-8EC078006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4971"/>
              </p:ext>
            </p:extLst>
          </p:nvPr>
        </p:nvGraphicFramePr>
        <p:xfrm>
          <a:off x="838200" y="2071049"/>
          <a:ext cx="3297385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71BE88-3F28-2728-82A5-D09B5C30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40414"/>
              </p:ext>
            </p:extLst>
          </p:nvPr>
        </p:nvGraphicFramePr>
        <p:xfrm>
          <a:off x="5159430" y="2071049"/>
          <a:ext cx="2826330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E35E32E-8B2E-BE6A-9632-9E14DB2B6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42683"/>
              </p:ext>
            </p:extLst>
          </p:nvPr>
        </p:nvGraphicFramePr>
        <p:xfrm>
          <a:off x="838200" y="4339904"/>
          <a:ext cx="2826330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2B761A7D-C8EB-8648-2310-7235352F8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227226"/>
              </p:ext>
            </p:extLst>
          </p:nvPr>
        </p:nvGraphicFramePr>
        <p:xfrm>
          <a:off x="5159430" y="4339904"/>
          <a:ext cx="3297385" cy="16138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1055">
                  <a:extLst>
                    <a:ext uri="{9D8B030D-6E8A-4147-A177-3AD203B41FA5}">
                      <a16:colId xmlns:a16="http://schemas.microsoft.com/office/drawing/2014/main" val="260534346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383027103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621777422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412409410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1957216006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2289593475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5862965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endParaRPr lang="pt-B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158808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42389"/>
                  </a:ext>
                </a:extLst>
              </a:tr>
              <a:tr h="523220">
                <a:tc>
                  <a:txBody>
                    <a:bodyPr/>
                    <a:lstStyle/>
                    <a:p>
                      <a:pPr algn="ctr"/>
                      <a:endParaRPr lang="pt-BR" sz="28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b="0" dirty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74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3475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485</Words>
  <Application>Microsoft Office PowerPoint</Application>
  <PresentationFormat>Widescreen</PresentationFormat>
  <Paragraphs>379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Operações com Sistemas Numéricos</vt:lpstr>
      <vt:lpstr>Binário - Adição </vt:lpstr>
      <vt:lpstr>Binário - Subtração</vt:lpstr>
      <vt:lpstr>Hexadecimal - Adição</vt:lpstr>
      <vt:lpstr>Exercícios Adição - HEX</vt:lpstr>
      <vt:lpstr>Hexadecimal - Subtração</vt:lpstr>
      <vt:lpstr>Exercícios HEX - Subtração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Operações com Sistemas Numéricos</dc:title>
  <dc:creator>RODRIGO AMORIM MOTTA CARVALHO</dc:creator>
  <cp:lastModifiedBy>José Elias Hermínio Mendes</cp:lastModifiedBy>
  <cp:revision>18</cp:revision>
  <dcterms:created xsi:type="dcterms:W3CDTF">2024-03-11T01:18:43Z</dcterms:created>
  <dcterms:modified xsi:type="dcterms:W3CDTF">2026-08-24T13:16:34Z</dcterms:modified>
</cp:coreProperties>
</file>